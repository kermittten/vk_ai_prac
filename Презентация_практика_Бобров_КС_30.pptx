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8B02C1-40CD-48B6-94E0-83BCE67531A7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EB01DB-E436-4090-8140-8B3AE561C10E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248547-FE00-4AB9-9211-F7D104F8D25B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840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852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840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8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F98A3A-28AF-4400-9B89-9FA33D0F13BC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840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852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840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11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FAF7B7-6C79-4C41-8BC1-E4BEACFC015A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5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4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7C37E7-B0B8-4E18-8B44-55E0922E488A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7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3A5790-B082-4F83-A5B7-060D93565E45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543720" y="365040"/>
            <a:ext cx="197100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365040"/>
            <a:ext cx="57999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20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B15B10-A7E6-4AE4-BABE-42C457BABD1F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22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8C8615-C55C-4447-A723-FE381C40654C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5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3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&lt;дата/время&gt;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4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A6E56C-B848-4AFF-9F87-3A713B190BFA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&lt;номер&gt;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16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5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16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&lt;дата/время&gt;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7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8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873CC1-FD5B-4F64-A0B8-5E5277329CCF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&lt;номер&gt;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38854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29240" y="1825560"/>
            <a:ext cx="38854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9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&lt;дата/время&gt;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30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593087-1AA7-40E5-9127-69272722B08F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&lt;номер&gt;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3000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Образец заголовка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30000" y="1681200"/>
            <a:ext cx="386748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30000" y="2505240"/>
            <a:ext cx="386748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29240" y="1681200"/>
            <a:ext cx="3886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29240" y="2505240"/>
            <a:ext cx="3886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Образец текста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Второй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Третий уровень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Четвертый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5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Пятый уровень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32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&lt;дата/время&gt;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33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4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14C4CC-30A1-4651-A220-71CFC63BCB8E}" type="slidenum">
              <a:rPr b="0" lang="ru-RU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&lt;номер&gt;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2"/>
          <p:cNvSpPr/>
          <p:nvPr/>
        </p:nvSpPr>
        <p:spPr>
          <a:xfrm>
            <a:off x="683640" y="295560"/>
            <a:ext cx="763200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Министерство науки и высшего образования Российской Федерации</a:t>
            </a: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ФГБОУ ВО «РХТУ им. Д.И. Менделеева»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Факультет цифровых технологий и химического инжиниринга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Кафедра информационных компьютерных технологий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2" descr="https://muctr.ru/bitrix/templates/modern_blue_s1/images/logo.png"/>
          <p:cNvPicPr/>
          <p:nvPr/>
        </p:nvPicPr>
        <p:blipFill>
          <a:blip r:embed="rId1"/>
          <a:stretch/>
        </p:blipFill>
        <p:spPr>
          <a:xfrm>
            <a:off x="179640" y="110520"/>
            <a:ext cx="932760" cy="16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.png" descr="image.png"/>
          <p:cNvPicPr/>
          <p:nvPr/>
        </p:nvPicPr>
        <p:blipFill>
          <a:blip r:embed="rId2"/>
          <a:stretch/>
        </p:blipFill>
        <p:spPr>
          <a:xfrm>
            <a:off x="7806960" y="471240"/>
            <a:ext cx="1228680" cy="1228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9" name="Заголовок 1"/>
          <p:cNvSpPr/>
          <p:nvPr/>
        </p:nvSpPr>
        <p:spPr>
          <a:xfrm>
            <a:off x="434160" y="1412640"/>
            <a:ext cx="8457480" cy="34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ОТЧЁТ ПО УЧЕБНОЙ ПРАКТИКЕ: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ТЕХНОЛОГИЧЕСКОЙ (ПРОЕКТНО-ТЕХНОЛОГИЧЕСКОЙ)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ПРАКТИКЕ НА ТЕМУ: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1" lang="ru-RU" sz="3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«</a:t>
            </a:r>
            <a:r>
              <a:rPr b="1" lang="ru-RU" sz="3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Дообучение Vision-Language модели deepvk/llava-gemma-2b-lora для структурированного анализа одежды</a:t>
            </a:r>
            <a:r>
              <a:rPr b="1" lang="ru-RU" sz="3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»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Подзаголовок 2"/>
          <p:cNvSpPr/>
          <p:nvPr/>
        </p:nvSpPr>
        <p:spPr>
          <a:xfrm>
            <a:off x="467640" y="5013000"/>
            <a:ext cx="8136360" cy="10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Студент группы КС-30:                                        М. С. Бобров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Руководитель работы: к.т.н., доцент         И. В. Красильников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8"/>
          <p:cNvSpPr/>
          <p:nvPr/>
        </p:nvSpPr>
        <p:spPr>
          <a:xfrm>
            <a:off x="4214880" y="6286680"/>
            <a:ext cx="11250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2026 год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 3"/>
          <p:cNvSpPr/>
          <p:nvPr/>
        </p:nvSpPr>
        <p:spPr>
          <a:xfrm>
            <a:off x="177480" y="830880"/>
            <a:ext cx="9043200" cy="51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Цель: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4000"/>
              </a:lnSpc>
              <a:spcAft>
                <a:spcPts val="601"/>
              </a:spcAf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Разработать и дообучить компактную визуально-языковую модель на базе открытого решения от VK (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deepvk/llava-gemma-2b-lora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) для автоматического извлечения атрибутов одежды с фотографий людей с сериализацией результатов в валидный формат JSON.</a:t>
            </a: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Задачи: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1.</a:t>
            </a:r>
            <a:r>
              <a:rPr b="1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Провести аналитический обзор литературы по архитектурам VLM и методам их дообучения.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2. Обосновать выбор базовой модели 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deepvk/llava-gemma-2b-lora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3. Разработать алгоритмы выравнивания визуальных токенов SigLIP и текстовых токенов Gemma.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4. Реализовать механизмы 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Prompt Loss Masking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для предотвращения нецелевого обучения на системном промпте.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5. Провести эксперименты по дообучению с применением адаптеров LoRA и подготовить модуля инференса.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Заголовок 1"/>
          <p:cNvSpPr/>
          <p:nvPr/>
        </p:nvSpPr>
        <p:spPr>
          <a:xfrm>
            <a:off x="518760" y="31680"/>
            <a:ext cx="822888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ru-RU" sz="3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Цель и задачи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38"/>
          </p:nvPr>
        </p:nvSpPr>
        <p:spPr>
          <a:xfrm>
            <a:off x="8604360" y="6283440"/>
            <a:ext cx="287280" cy="4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FF4C50-8286-44C2-9264-1FA7884F3B36}" type="slidenum"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2</a:t>
            </a:fld>
            <a:endParaRPr b="0" lang="ru-RU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0"/>
            <a:ext cx="7886160" cy="7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Актуальность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39"/>
          </p:nvPr>
        </p:nvSpPr>
        <p:spPr>
          <a:xfrm>
            <a:off x="8604360" y="6283440"/>
            <a:ext cx="287280" cy="4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Прямоугольник 2"/>
          <p:cNvSpPr/>
          <p:nvPr/>
        </p:nvSpPr>
        <p:spPr>
          <a:xfrm>
            <a:off x="360000" y="720000"/>
            <a:ext cx="8316720" cy="53024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Идея проекта: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Листаешь ты ленту ВКонтакте, видишь у друга или любимого блогера интересный образ, например крутую куртку или джинсы. Первая мысль: «Где он это взял?». Начинаются расспросы в комментариях или долгие поиски по ключевым словам на маркетплейсах.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Почему бы не решить это прямо внутри VK?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Можно внедрить нейросеть прямо в интерфейс мессенджера и ленты. Работает это максимально просто: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1) Нажимаешь одну кнопку под фото с понравившимся образом.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2) VLM-модель разбирает человека на фото по косточкам: определяет, что на нём надето, какого цвета, стиля и с каким узором, и выдаёт аккуратный JSON.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3) Система подхватывает эти данные и тут же выдаёт пользователю карточки с похожими товарами напрямую с Ozon, Wildberries или Яндекс Маркета.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В итоге в выигрыше вообще все: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1) Пользователь мгновенно находит понравившиеся вещи без лишней головной боли.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2) VK получает мощный источник монетизации за счёт партнерских кликов и рекламы.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3) Маркетплейсы получают горячий целевой трафик прямо из соцсети.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532440" y="900000"/>
            <a:ext cx="8107560" cy="5400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Язык программирования: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Python (3.10+) — основной язык разработки программных скриптов подготовки данных, функций сборки батчей, дообучения и инференса.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Машинное обучение и глубокие нейросети (ML / Deep Learning):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PyTorch (torch) — базовый фреймворк глубокого обучения, использованный для управления тензорами, вычисления градиентов и выполнения вычислений в режиме смешанной точности (torch.amp.autocast).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Hugging Face transformers — библиотека для загрузки предобученных моделей, токенизаторов, процессоров мультимодальных данных (LlavaProcessor) и управления циклом генерации.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Hugging Face peft (Parameter-Efficient Fine-Tuning) — специализированная библиотека для конфигурации, инициализации и обучения адаптеров низкого ранга (LoRA).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Hugging Face datasets / hub — инструментарий для взаимодействия с коллекцией моделей VK и загрузки весов deepvk/llava-gemma-2b-lora.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Обработка изображений и данных: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Pillow (PIL) — библиотека для предварительной загрузки, нормализации, трансформации и кадрирования входных фотографий формата RGB.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JSON / json stdlib — форматы и библиотеки сериализации/десериализации для жесткого контроля целевой структуры вывода параметров одежды.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Вычислительная инфраструктура и аппаратное обеспечение: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Google Colab — облачная интерактивная среда разработки для выполнения скриптов дообучения.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NVIDIA T4 GPU (15 ГБ VRAM) — аппаратный графический ускоритель, использованный для расчетов смешанной точности FP16.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567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CUDA (Compute Unified Device Architecture) — программно-аппаратная платформа параллельных вычислений NVIDIA.</a:t>
            </a:r>
            <a:r>
              <a:rPr b="1" lang="ru-RU" sz="1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539640" y="44640"/>
            <a:ext cx="7886160" cy="93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Использованный стек технологий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40"/>
          </p:nvPr>
        </p:nvSpPr>
        <p:spPr>
          <a:xfrm>
            <a:off x="8604360" y="6283440"/>
            <a:ext cx="287280" cy="4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611640" y="738720"/>
            <a:ext cx="8352360" cy="5544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Система представляет собой пайплайн из 3 основных блоков: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Модуль предобработки: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Картинка: Масштабируется до 336 * 336 px и разбивается на 576 патчей (24 * 24).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Текст: Разворачивает тег &lt;image&gt; в 576 токенов для идеального совпадения с картинкой.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Мультимодальное ядро (deepvk/llava-gemma-2b-lora):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SigLIP: Извлекает визуальные фичи из патчей фото.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Проектор: Переводит визуальные фичи в формат текстовых эмбеддингов.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Gemma-2B + LoRA: Генерирует ответ. Адаптеры LoRA на слоях q_proj и v_proj заставляют модель строго следовать заданному формату.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Модуль пост-обработки: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6858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Отрезает исходный промпт от ответа, декодирует токены в текст и выдает готовый JSON с атрибутами одежды (type, color, style, pattern).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41"/>
          </p:nvPr>
        </p:nvSpPr>
        <p:spPr>
          <a:xfrm>
            <a:off x="8604360" y="6283440"/>
            <a:ext cx="287280" cy="4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title"/>
          </p:nvPr>
        </p:nvSpPr>
        <p:spPr>
          <a:xfrm>
            <a:off x="467640" y="0"/>
            <a:ext cx="7886160" cy="75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Архитектура системы и моя работа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42"/>
          </p:nvPr>
        </p:nvSpPr>
        <p:spPr>
          <a:xfrm>
            <a:off x="8604360" y="6283440"/>
            <a:ext cx="287280" cy="4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615960" y="260640"/>
            <a:ext cx="7886160" cy="75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Результаты работы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 rot="3600">
            <a:off x="418320" y="1083960"/>
            <a:ext cx="8039160" cy="457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12840" y="0"/>
            <a:ext cx="6681240" cy="90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Выводы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Прямоугольник 2"/>
          <p:cNvSpPr/>
          <p:nvPr/>
        </p:nvSpPr>
        <p:spPr>
          <a:xfrm>
            <a:off x="287280" y="789840"/>
            <a:ext cx="846828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/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В ходе прохождения практики была успешно достигнута поставленная цель - разработка и апробация MVP-прототипа модуля структурированного распознавания элементов гардероба на основе открытой мультимодальной архитектуры 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deepvk/llava-gemma-2b-lora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/>
            <a:endParaRPr b="0" lang="ru-RU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b="1" lang="ru-RU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Итоговый результат: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Проведенная работа подтвердила жизнеспособность применения открытых компактных моделей VK для решения прикладных задач компьютерного зрения и обработке естественного языка. Разработанный программно-алгоритмический комплекс служит готовым фундаментом для последующей интеграции в микросервисную инфраструктуру и взаимодействия с API маркетплейсов. 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3"/>
          </p:nvPr>
        </p:nvSpPr>
        <p:spPr>
          <a:xfrm>
            <a:off x="8604360" y="6283440"/>
            <a:ext cx="287280" cy="4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763640" y="2493000"/>
            <a:ext cx="604800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Спасибо за внимание!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LibreOffice/25.2.3.2$Linux_X86_64 LibreOffice_project/520$Build-2</Application>
  <AppVersion>15.0000</AppVersion>
  <Words>0</Words>
  <Paragraphs>0</Paragraphs>
  <Company>Krokoz™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2019-11-13T14:12:11Z</dcterms:created>
  <dc:creator>ThinkPad</dc:creator>
  <dc:description/>
  <dc:language>ru-RU</dc:language>
  <cp:lastModifiedBy/>
  <dcterms:modified xsi:type="dcterms:W3CDTF">2026-07-27T16:55:02Z</dcterms:modified>
  <cp:revision>97</cp:revision>
  <dc:subject/>
  <dc:title>Разработка программных модулей для создания цифровых двойников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9</vt:i4>
  </property>
  <property fmtid="{D5CDD505-2E9C-101B-9397-08002B2CF9AE}" pid="4" name="PresentationFormat">
    <vt:lpwstr>On-screen Show (4:3)</vt:lpwstr>
  </property>
  <property fmtid="{D5CDD505-2E9C-101B-9397-08002B2CF9AE}" pid="5" name="Slides">
    <vt:i4>9</vt:i4>
  </property>
</Properties>
</file>